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sldIdLst>
    <p:sldId id="256" r:id="rId5"/>
    <p:sldId id="258" r:id="rId6"/>
    <p:sldId id="257" r:id="rId7"/>
    <p:sldId id="259" r:id="rId8"/>
    <p:sldId id="260" r:id="rId9"/>
    <p:sldId id="261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88D12E-B061-4945-B7C7-6825B6628E4B}">
          <p14:sldIdLst>
            <p14:sldId id="256"/>
            <p14:sldId id="258"/>
            <p14:sldId id="257"/>
            <p14:sldId id="259"/>
            <p14:sldId id="260"/>
            <p14:sldId id="261"/>
            <p14:sldId id="263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4DA9"/>
    <a:srgbClr val="1077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EE019-BB75-4A8F-A793-9F17D7F27367}" v="11" dt="2026-10-01T02:21:36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.aldana2-W218165854" userId="7e9fe930-3d13-407e-98fa-483e3705696b" providerId="ADAL" clId="{16A610CC-95FE-45CA-A86A-EA728BC14B31}"/>
    <pc:docChg chg="modSld sldOrd">
      <pc:chgData name="jonathan.aldana2-W218165854" userId="7e9fe930-3d13-407e-98fa-483e3705696b" providerId="ADAL" clId="{16A610CC-95FE-45CA-A86A-EA728BC14B31}" dt="2026-10-01T03:58:43.066" v="16" actId="20577"/>
      <pc:docMkLst>
        <pc:docMk/>
      </pc:docMkLst>
      <pc:sldChg chg="modSp mod">
        <pc:chgData name="jonathan.aldana2-W218165854" userId="7e9fe930-3d13-407e-98fa-483e3705696b" providerId="ADAL" clId="{16A610CC-95FE-45CA-A86A-EA728BC14B31}" dt="2026-10-01T03:58:43.066" v="16" actId="20577"/>
        <pc:sldMkLst>
          <pc:docMk/>
          <pc:sldMk cId="1408818480" sldId="262"/>
        </pc:sldMkLst>
        <pc:spChg chg="mod">
          <ac:chgData name="jonathan.aldana2-W218165854" userId="7e9fe930-3d13-407e-98fa-483e3705696b" providerId="ADAL" clId="{16A610CC-95FE-45CA-A86A-EA728BC14B31}" dt="2026-10-01T03:58:43.066" v="16" actId="20577"/>
          <ac:spMkLst>
            <pc:docMk/>
            <pc:sldMk cId="1408818480" sldId="262"/>
            <ac:spMk id="28" creationId="{D40B1E5F-6E29-5A52-5419-7D3927E33715}"/>
          </ac:spMkLst>
        </pc:spChg>
      </pc:sldChg>
      <pc:sldChg chg="modSp ord">
        <pc:chgData name="jonathan.aldana2-W218165854" userId="7e9fe930-3d13-407e-98fa-483e3705696b" providerId="ADAL" clId="{16A610CC-95FE-45CA-A86A-EA728BC14B31}" dt="2026-10-01T02:21:36.046" v="10"/>
        <pc:sldMkLst>
          <pc:docMk/>
          <pc:sldMk cId="2555006169" sldId="263"/>
        </pc:sldMkLst>
        <pc:graphicFrameChg chg="mod">
          <ac:chgData name="jonathan.aldana2-W218165854" userId="7e9fe930-3d13-407e-98fa-483e3705696b" providerId="ADAL" clId="{16A610CC-95FE-45CA-A86A-EA728BC14B31}" dt="2026-10-01T02:21:36.046" v="10"/>
          <ac:graphicFrameMkLst>
            <pc:docMk/>
            <pc:sldMk cId="2555006169" sldId="263"/>
            <ac:graphicFrameMk id="4" creationId="{8B891A89-20F1-ED9F-CF6D-DCC4E9D2EF3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049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5554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26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434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19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33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6506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679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880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368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5649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251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254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701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0625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7812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0216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5437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74837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46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8643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9116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0741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6B226B-77A6-410C-9796-083F278E0125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04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4408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64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04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67F45AC6-C491-4585-A584-9CE2AF7D550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3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1E3E9F-CEB5-1353-7450-ECB99D101B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2">
                <a:lumMod val="5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 t="20410" r="9091"/>
          <a:stretch>
            <a:fillRect/>
          </a:stretch>
        </p:blipFill>
        <p:spPr>
          <a:xfrm>
            <a:off x="-355506" y="-146947"/>
            <a:ext cx="12848347" cy="71415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483547-134A-AB4F-1C62-78BDE47A4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71142" y="188537"/>
            <a:ext cx="1329180" cy="1009482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 anchor="ctr">
            <a:normAutofit/>
          </a:bodyPr>
          <a:lstStyle/>
          <a:p>
            <a:pPr algn="ctr"/>
            <a:r>
              <a:rPr lang="en-US" sz="1600" dirty="0"/>
              <a:t>ITAI 1378 Midterm Blueprint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97A51-4E9A-FA40-067B-F2C35C07A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2636" y="2873053"/>
            <a:ext cx="5825764" cy="682928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 b="0" dirty="0"/>
              <a:t>A transfer-learning computer vision system categorizing body ink, outdoor murals, and background clutter.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B59F2-5FF7-B10E-5B52-32336EF150CC}"/>
              </a:ext>
            </a:extLst>
          </p:cNvPr>
          <p:cNvSpPr txBox="1"/>
          <p:nvPr/>
        </p:nvSpPr>
        <p:spPr>
          <a:xfrm>
            <a:off x="414782" y="136751"/>
            <a:ext cx="3327660" cy="307776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Arial Nova Light" panose="020B03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Tattoo &amp; Street Art Visual Classifier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5184E-D583-4C9F-B873-C7561E200908}"/>
              </a:ext>
            </a:extLst>
          </p:cNvPr>
          <p:cNvSpPr txBox="1"/>
          <p:nvPr/>
        </p:nvSpPr>
        <p:spPr>
          <a:xfrm>
            <a:off x="94269" y="5957954"/>
            <a:ext cx="3261672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Author</a:t>
            </a: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Jonathan S. Aldana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3CEB2E-06A5-5EDB-A8AA-AE57AC57EF85}"/>
              </a:ext>
            </a:extLst>
          </p:cNvPr>
          <p:cNvSpPr txBox="1"/>
          <p:nvPr/>
        </p:nvSpPr>
        <p:spPr>
          <a:xfrm>
            <a:off x="3355942" y="5957954"/>
            <a:ext cx="4647381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Project Tier</a:t>
            </a: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Tier 1: Core (single-Task CNN)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92BF1A-0BD2-C848-4FE0-96421C49E259}"/>
              </a:ext>
            </a:extLst>
          </p:cNvPr>
          <p:cNvSpPr txBox="1"/>
          <p:nvPr/>
        </p:nvSpPr>
        <p:spPr>
          <a:xfrm>
            <a:off x="8003324" y="5957954"/>
            <a:ext cx="4094407" cy="55399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Institution</a:t>
            </a: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Houston City College</a:t>
            </a:r>
          </a:p>
        </p:txBody>
      </p:sp>
    </p:spTree>
    <p:extLst>
      <p:ext uri="{BB962C8B-B14F-4D97-AF65-F5344CB8AC3E}">
        <p14:creationId xmlns:p14="http://schemas.microsoft.com/office/powerpoint/2010/main" val="254360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8680-E56C-9BC7-5079-0A70F46E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672571"/>
            <a:ext cx="11125201" cy="431835"/>
          </a:xfrm>
        </p:spPr>
        <p:txBody>
          <a:bodyPr>
            <a:noAutofit/>
          </a:bodyPr>
          <a:lstStyle/>
          <a:p>
            <a:r>
              <a:rPr lang="en-US" sz="2400" dirty="0"/>
              <a:t>The Problem: Identifying Distinguishing Physical Markers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2C022-6554-B7DE-941C-8DC8F2983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The Real-World Challenge</a:t>
            </a:r>
          </a:p>
          <a:p>
            <a:r>
              <a:rPr lang="en-US" sz="1600" dirty="0">
                <a:solidFill>
                  <a:srgbClr val="A94DA9"/>
                </a:solidFill>
              </a:rPr>
              <a:t>In missing persons registries, disaster victim identification (DVI), and medical biometric records, being able to distinguish physical features such as tattoos, scars, and skin patterns is crucial for human identification.</a:t>
            </a:r>
          </a:p>
          <a:p>
            <a:r>
              <a:rPr lang="en-US" sz="1600" dirty="0">
                <a:solidFill>
                  <a:srgbClr val="A94DA9"/>
                </a:solidFill>
              </a:rPr>
              <a:t>When searching through digital evidence, personal photos, or intake databases, automated image search tools constantly confuse outdoor murals, street graffiti, clothing prints, or plain skin with actual permanent body ink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2000" b="1" dirty="0"/>
              <a:t>Who Cares &amp; Why Does It Matter?</a:t>
            </a:r>
          </a:p>
          <a:p>
            <a:r>
              <a:rPr lang="en-US" sz="1600" dirty="0">
                <a:solidFill>
                  <a:srgbClr val="A94DA9"/>
                </a:solidFill>
              </a:rPr>
              <a:t>Who: Humanitarian recovery organizations, forensic pathologists, and digital registries.</a:t>
            </a:r>
          </a:p>
          <a:p>
            <a:r>
              <a:rPr lang="en-US" sz="1600" dirty="0">
                <a:solidFill>
                  <a:srgbClr val="A94DA9"/>
                </a:solidFill>
              </a:rPr>
              <a:t>Why: Reviewing thousands of uncategorized personal photos manually to verify if an image depicts a real tattoo on a victim or missing person causes critical delays during recovery and identification efforts</a:t>
            </a:r>
            <a:r>
              <a:rPr lang="en-US" dirty="0">
                <a:solidFill>
                  <a:srgbClr val="A94DA9"/>
                </a:solidFill>
              </a:rPr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b="1" dirty="0"/>
              <a:t>What Will Solve It?</a:t>
            </a:r>
          </a:p>
          <a:p>
            <a:r>
              <a:rPr lang="en-US" sz="1600" dirty="0">
                <a:solidFill>
                  <a:srgbClr val="A94DA9"/>
                </a:solidFill>
              </a:rPr>
              <a:t>An automated 3-class vision classifier (tats, street_art, none) that filters out urban murals, graffiti, and background noise, isolating physical body markings for rapid review.</a:t>
            </a:r>
          </a:p>
        </p:txBody>
      </p:sp>
    </p:spTree>
    <p:extLst>
      <p:ext uri="{BB962C8B-B14F-4D97-AF65-F5344CB8AC3E}">
        <p14:creationId xmlns:p14="http://schemas.microsoft.com/office/powerpoint/2010/main" val="27899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05FF-117F-DE16-178B-E4BB5D336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672572"/>
            <a:ext cx="6698675" cy="408084"/>
          </a:xfrm>
        </p:spPr>
        <p:txBody>
          <a:bodyPr>
            <a:normAutofit/>
          </a:bodyPr>
          <a:lstStyle/>
          <a:p>
            <a:r>
              <a:rPr lang="en-US" sz="2400" dirty="0"/>
              <a:t>The Solution: 3-stage triage pipeline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E0358E-FEA8-4006-725C-6CBDC263D081}"/>
              </a:ext>
            </a:extLst>
          </p:cNvPr>
          <p:cNvSpPr/>
          <p:nvPr/>
        </p:nvSpPr>
        <p:spPr>
          <a:xfrm>
            <a:off x="715323" y="1627311"/>
            <a:ext cx="2161309" cy="31380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&amp; Processing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1300" dirty="0"/>
          </a:p>
          <a:p>
            <a:endParaRPr lang="en-US" sz="1300" dirty="0"/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Input Image / Crop</a:t>
            </a:r>
          </a:p>
          <a:p>
            <a:pPr marL="285750" indent="-285750">
              <a:buFontTx/>
              <a:buChar char="-"/>
            </a:pP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Resize to 224x224</a:t>
            </a:r>
          </a:p>
          <a:p>
            <a:pPr marL="285750" indent="-285750">
              <a:buFontTx/>
              <a:buChar char="-"/>
            </a:pP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Normalize Tensors</a:t>
            </a:r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CFCEB-2EA4-EEBD-4C1F-0A0F782C45D2}"/>
              </a:ext>
            </a:extLst>
          </p:cNvPr>
          <p:cNvSpPr/>
          <p:nvPr/>
        </p:nvSpPr>
        <p:spPr>
          <a:xfrm>
            <a:off x="3703953" y="1654805"/>
            <a:ext cx="2161309" cy="3138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 Extraction</a:t>
            </a: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300" dirty="0">
              <a:solidFill>
                <a:schemeClr val="bg1"/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Pretrained Resnet/MobileNetV2</a:t>
            </a:r>
          </a:p>
          <a:p>
            <a:pPr marL="285750" indent="-285750">
              <a:buFontTx/>
              <a:buChar char="-"/>
            </a:pP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Frozen Feature Weights</a:t>
            </a:r>
          </a:p>
          <a:p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Extract Texture &amp; Edge Features</a:t>
            </a:r>
            <a:r>
              <a:rPr lang="en-US" sz="13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9DBE98-65E6-5F97-5EF2-B19570B93D96}"/>
              </a:ext>
            </a:extLst>
          </p:cNvPr>
          <p:cNvSpPr/>
          <p:nvPr/>
        </p:nvSpPr>
        <p:spPr>
          <a:xfrm>
            <a:off x="6607469" y="1588009"/>
            <a:ext cx="2161309" cy="3138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Classification Head</a:t>
            </a: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300" dirty="0">
              <a:solidFill>
                <a:schemeClr val="bg1"/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Custom Linear Layer (2048 -&gt; 3)</a:t>
            </a:r>
          </a:p>
          <a:p>
            <a:pPr marL="285750" indent="-285750">
              <a:buFontTx/>
              <a:buChar char="-"/>
            </a:pP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Trainable Classification Head</a:t>
            </a:r>
          </a:p>
          <a:p>
            <a:pPr marL="285750" indent="-285750">
              <a:buFontTx/>
              <a:buChar char="-"/>
            </a:pP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3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Softmax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Activation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90E94-C332-30AA-C2C8-A04C0AF76C21}"/>
              </a:ext>
            </a:extLst>
          </p:cNvPr>
          <p:cNvSpPr/>
          <p:nvPr/>
        </p:nvSpPr>
        <p:spPr>
          <a:xfrm>
            <a:off x="9553542" y="1590980"/>
            <a:ext cx="2161309" cy="3138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Decision Output</a:t>
            </a: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endParaRPr lang="en-US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Final Class Probabilities</a:t>
            </a:r>
          </a:p>
          <a:p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Output Label: tats | street_art | none</a:t>
            </a:r>
          </a:p>
          <a:p>
            <a:endParaRPr lang="en-US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Decision Confidence Score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4D7D2F-0E42-5847-B834-568C94F51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9" y="2271914"/>
            <a:ext cx="522411" cy="874291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1E03FC82-F090-EFEA-0E45-C6104B816FA1}"/>
              </a:ext>
            </a:extLst>
          </p:cNvPr>
          <p:cNvSpPr/>
          <p:nvPr/>
        </p:nvSpPr>
        <p:spPr>
          <a:xfrm>
            <a:off x="741135" y="2627079"/>
            <a:ext cx="513257" cy="282768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34BCE60-B4F8-02CD-157F-AE30035F49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36474" y="2323478"/>
            <a:ext cx="884278" cy="9514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D4A264-AAC5-E085-1936-1765586DB3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r="-19027" b="23114"/>
          <a:stretch>
            <a:fillRect/>
          </a:stretch>
        </p:blipFill>
        <p:spPr>
          <a:xfrm>
            <a:off x="2352995" y="2630335"/>
            <a:ext cx="511210" cy="51587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4D6AC5-EDFE-9EDF-37ED-AC0A466CBE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80" t="6507" r="3181" b="8529"/>
          <a:stretch>
            <a:fillRect/>
          </a:stretch>
        </p:blipFill>
        <p:spPr>
          <a:xfrm>
            <a:off x="9966597" y="2033336"/>
            <a:ext cx="1351254" cy="1056904"/>
          </a:xfrm>
          <a:prstGeom prst="rect">
            <a:avLst/>
          </a:prstGeom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E9F4968D-E3B5-0D4B-5197-C290E11BA768}"/>
              </a:ext>
            </a:extLst>
          </p:cNvPr>
          <p:cNvSpPr/>
          <p:nvPr/>
        </p:nvSpPr>
        <p:spPr>
          <a:xfrm>
            <a:off x="2876632" y="2768463"/>
            <a:ext cx="784764" cy="321777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2A125DE-2DFE-63E1-83E7-8214C1573E45}"/>
              </a:ext>
            </a:extLst>
          </p:cNvPr>
          <p:cNvSpPr/>
          <p:nvPr/>
        </p:nvSpPr>
        <p:spPr>
          <a:xfrm>
            <a:off x="5822705" y="2835259"/>
            <a:ext cx="784764" cy="321777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1CB8D91-8CEB-5B17-4469-8D2F162F4629}"/>
              </a:ext>
            </a:extLst>
          </p:cNvPr>
          <p:cNvSpPr/>
          <p:nvPr/>
        </p:nvSpPr>
        <p:spPr>
          <a:xfrm>
            <a:off x="8768778" y="2835259"/>
            <a:ext cx="784764" cy="321777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6C96286-FE5A-1CE4-877F-1DE3219059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09851" y="2233296"/>
            <a:ext cx="1556545" cy="9237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5B98E85-4184-8262-7E16-D7F96850375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0865"/>
          <a:stretch>
            <a:fillRect/>
          </a:stretch>
        </p:blipFill>
        <p:spPr>
          <a:xfrm>
            <a:off x="3855143" y="2421924"/>
            <a:ext cx="1858928" cy="85299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5366D70-B86B-C07A-D98B-D8AB684B304A}"/>
              </a:ext>
            </a:extLst>
          </p:cNvPr>
          <p:cNvSpPr txBox="1"/>
          <p:nvPr/>
        </p:nvSpPr>
        <p:spPr>
          <a:xfrm>
            <a:off x="2305867" y="3073227"/>
            <a:ext cx="655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tensor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5B00855-C2F2-089E-7025-E2D8236268E6}"/>
              </a:ext>
            </a:extLst>
          </p:cNvPr>
          <p:cNvSpPr/>
          <p:nvPr/>
        </p:nvSpPr>
        <p:spPr>
          <a:xfrm>
            <a:off x="1204849" y="5233416"/>
            <a:ext cx="9782301" cy="9500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107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An end-to-end deep learning pipeline ingests raw field images, extracts texture and edge representations using a pretrained ResNet50 backbone, and classifies the input into tattoos, street murals, or background clutter to rapidly triage physical identification markers.</a:t>
            </a:r>
          </a:p>
        </p:txBody>
      </p:sp>
    </p:spTree>
    <p:extLst>
      <p:ext uri="{BB962C8B-B14F-4D97-AF65-F5344CB8AC3E}">
        <p14:creationId xmlns:p14="http://schemas.microsoft.com/office/powerpoint/2010/main" val="326361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FCD7-0EF5-F081-0557-A0E63092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34" y="663117"/>
            <a:ext cx="6378041" cy="396209"/>
          </a:xfrm>
        </p:spPr>
        <p:txBody>
          <a:bodyPr>
            <a:normAutofit/>
          </a:bodyPr>
          <a:lstStyle/>
          <a:p>
            <a:r>
              <a:rPr lang="en-US" sz="2400" dirty="0"/>
              <a:t>Technical Approach &amp; Justification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384C3-5E07-0A20-5CCA-6D87AE4C80C5}"/>
              </a:ext>
            </a:extLst>
          </p:cNvPr>
          <p:cNvSpPr/>
          <p:nvPr/>
        </p:nvSpPr>
        <p:spPr>
          <a:xfrm>
            <a:off x="801088" y="1330036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C77B8B-3720-61ED-F7A1-31006760F4B6}"/>
              </a:ext>
            </a:extLst>
          </p:cNvPr>
          <p:cNvSpPr/>
          <p:nvPr/>
        </p:nvSpPr>
        <p:spPr>
          <a:xfrm>
            <a:off x="8873342" y="1330036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560C6E-5934-2963-8CE8-EA06DDE73A81}"/>
              </a:ext>
            </a:extLst>
          </p:cNvPr>
          <p:cNvSpPr/>
          <p:nvPr/>
        </p:nvSpPr>
        <p:spPr>
          <a:xfrm>
            <a:off x="4837215" y="1330036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7A8549-C8E8-2414-C378-BDEB7353F19D}"/>
              </a:ext>
            </a:extLst>
          </p:cNvPr>
          <p:cNvSpPr/>
          <p:nvPr/>
        </p:nvSpPr>
        <p:spPr>
          <a:xfrm>
            <a:off x="1204849" y="5688281"/>
            <a:ext cx="9782301" cy="9500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107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Why This Approach: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Transfer learning via ResNet50 is optimal for a 2,600-image dataset. Pretrained convolutional layers extract rich edge and texture features out of the box, preventing severe overfitting while allowing the model to train efficiently within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</a:rPr>
              <a:t>Colab's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GPU session limits.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0094CB-67D5-3DC2-6485-CC377D19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6677" y="1836222"/>
            <a:ext cx="2517569" cy="14517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3E0D25-C8D4-50D0-3D6E-E85E1F24C6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25709" y="1791701"/>
            <a:ext cx="2540578" cy="16076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4712BFD-EDF8-7295-96E8-5B5287939D5F}"/>
              </a:ext>
            </a:extLst>
          </p:cNvPr>
          <p:cNvSpPr txBox="1"/>
          <p:nvPr/>
        </p:nvSpPr>
        <p:spPr>
          <a:xfrm>
            <a:off x="869062" y="1330036"/>
            <a:ext cx="23816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CV Technique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D7F8D-A976-E7E6-5A82-A266C4AC2457}"/>
              </a:ext>
            </a:extLst>
          </p:cNvPr>
          <p:cNvSpPr txBox="1"/>
          <p:nvPr/>
        </p:nvSpPr>
        <p:spPr>
          <a:xfrm>
            <a:off x="4750312" y="1370317"/>
            <a:ext cx="269137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/>
              <a:t>Model Architecture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622FE-F855-A984-A8F8-5BBC21EFF72C}"/>
              </a:ext>
            </a:extLst>
          </p:cNvPr>
          <p:cNvSpPr txBox="1"/>
          <p:nvPr/>
        </p:nvSpPr>
        <p:spPr>
          <a:xfrm>
            <a:off x="8884845" y="1370316"/>
            <a:ext cx="2472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Framework &amp; Tools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1944D9D-B1EA-ED41-50D4-ED28398AD8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63425" y="1986700"/>
            <a:ext cx="1090428" cy="11008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E592F3F-BFDC-45DD-73CD-1E0921B8B3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61782" y="2057827"/>
            <a:ext cx="1603541" cy="105766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72226F7-1B45-46F8-1078-5B8EB62468CB}"/>
              </a:ext>
            </a:extLst>
          </p:cNvPr>
          <p:cNvSpPr txBox="1"/>
          <p:nvPr/>
        </p:nvSpPr>
        <p:spPr>
          <a:xfrm>
            <a:off x="812591" y="3250418"/>
            <a:ext cx="25175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Multi-Class Image Classification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- 3 target classes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tats, street_art, none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Focus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Automated visual triage isolating human skin ink from outdoor street artwork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351ABF-A51A-74D4-1EED-083407A61857}"/>
                  </a:ext>
                </a:extLst>
              </p:cNvPr>
              <p:cNvSpPr txBox="1"/>
              <p:nvPr/>
            </p:nvSpPr>
            <p:spPr>
              <a:xfrm>
                <a:off x="4869159" y="3250418"/>
                <a:ext cx="2540578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1400" b="1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- ResNet50 Backbone</a:t>
                </a:r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 (ImageNet Pretrained) </a:t>
                </a:r>
              </a:p>
              <a:p>
                <a:pPr lvl="0"/>
                <a:r>
                  <a:rPr lang="en-US" sz="1400" b="1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- Transfer Learning</a:t>
                </a:r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: Frozen feature extraction layers to preserve generalized weights </a:t>
                </a:r>
              </a:p>
              <a:p>
                <a:pPr lvl="0"/>
                <a:r>
                  <a:rPr lang="en-US" sz="1400" b="1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- Custom Head</a:t>
                </a:r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: Linear classification layer (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</a:rPr>
                      <m:t>2048→3</m:t>
                    </m:r>
                  </m:oMath>
                </a14:m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) + </a:t>
                </a:r>
                <a:r>
                  <a:rPr lang="en-US" sz="1400" dirty="0" err="1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Softmax</a:t>
                </a:r>
                <a:r>
                  <a:rPr lang="en-US" sz="1400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9351ABF-A51A-74D4-1EED-083407A61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159" y="3250418"/>
                <a:ext cx="2540578" cy="2092881"/>
              </a:xfrm>
              <a:prstGeom prst="rect">
                <a:avLst/>
              </a:prstGeom>
              <a:blipFill>
                <a:blip r:embed="rId6"/>
                <a:stretch>
                  <a:fillRect l="-719" t="-581" r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8D9A08A-C6AB-BD26-AE02-04BC09CDC1C7}"/>
              </a:ext>
            </a:extLst>
          </p:cNvPr>
          <p:cNvSpPr txBox="1"/>
          <p:nvPr/>
        </p:nvSpPr>
        <p:spPr>
          <a:xfrm>
            <a:off x="8928296" y="3068145"/>
            <a:ext cx="2451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400" b="1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PyTorch</a:t>
            </a: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&amp; </a:t>
            </a:r>
            <a:r>
              <a:rPr lang="en-US" sz="1400" b="1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Torchvision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for neural network modeling and transforms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Data Loaders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Standard </a:t>
            </a:r>
            <a:r>
              <a:rPr lang="en-US" sz="14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ImageFolder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directory structure </a:t>
            </a:r>
          </a:p>
          <a:p>
            <a:pPr lvl="0"/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Hardware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Google </a:t>
            </a:r>
            <a:r>
              <a:rPr lang="en-US" sz="14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Colab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with free-tier T4 GPU acceleration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748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322A-295E-5A5C-FA19-45D3BED4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660696"/>
            <a:ext cx="11125201" cy="746759"/>
          </a:xfrm>
        </p:spPr>
        <p:txBody>
          <a:bodyPr>
            <a:normAutofit/>
          </a:bodyPr>
          <a:lstStyle/>
          <a:p>
            <a:r>
              <a:rPr lang="en-US" sz="2400" dirty="0"/>
              <a:t>Data Plan &amp; Architecture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BABAD-FDF8-743F-29A5-4FF042C243C9}"/>
              </a:ext>
            </a:extLst>
          </p:cNvPr>
          <p:cNvSpPr/>
          <p:nvPr/>
        </p:nvSpPr>
        <p:spPr>
          <a:xfrm>
            <a:off x="700643" y="1407455"/>
            <a:ext cx="4488874" cy="368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F16D3-9F94-9109-9E02-7FC1AA50C289}"/>
              </a:ext>
            </a:extLst>
          </p:cNvPr>
          <p:cNvSpPr/>
          <p:nvPr/>
        </p:nvSpPr>
        <p:spPr>
          <a:xfrm>
            <a:off x="7002485" y="1414637"/>
            <a:ext cx="4488874" cy="3681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A8CAA2-C8AD-A01B-A41E-F9D562CD1848}"/>
              </a:ext>
            </a:extLst>
          </p:cNvPr>
          <p:cNvSpPr/>
          <p:nvPr/>
        </p:nvSpPr>
        <p:spPr>
          <a:xfrm>
            <a:off x="700643" y="5557652"/>
            <a:ext cx="10790717" cy="10772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A8C65-F11A-17EF-64D2-87C221EEAACB}"/>
              </a:ext>
            </a:extLst>
          </p:cNvPr>
          <p:cNvSpPr txBox="1"/>
          <p:nvPr/>
        </p:nvSpPr>
        <p:spPr>
          <a:xfrm>
            <a:off x="700644" y="1395579"/>
            <a:ext cx="4488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Dataset Composition &amp; Class Distribution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308D1-5859-1DB6-BAD8-52895EAE6588}"/>
              </a:ext>
            </a:extLst>
          </p:cNvPr>
          <p:cNvSpPr txBox="1"/>
          <p:nvPr/>
        </p:nvSpPr>
        <p:spPr>
          <a:xfrm>
            <a:off x="7253948" y="1427729"/>
            <a:ext cx="4488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Data Pipeline &amp; Split Strategy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CCE47B-457D-05EB-8A67-E4E0B2526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37" r="65138"/>
          <a:stretch>
            <a:fillRect/>
          </a:stretch>
        </p:blipFill>
        <p:spPr>
          <a:xfrm>
            <a:off x="2277636" y="2061667"/>
            <a:ext cx="1334887" cy="13673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BEE9E1-FBA9-458B-BC67-EEF785C2F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698" r="3531"/>
          <a:stretch>
            <a:fillRect/>
          </a:stretch>
        </p:blipFill>
        <p:spPr>
          <a:xfrm>
            <a:off x="7409047" y="1583903"/>
            <a:ext cx="3459180" cy="189282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C2E98A-0FB4-6163-9574-69D818C19B82}"/>
              </a:ext>
            </a:extLst>
          </p:cNvPr>
          <p:cNvSpPr txBox="1"/>
          <p:nvPr/>
        </p:nvSpPr>
        <p:spPr>
          <a:xfrm>
            <a:off x="700643" y="3313216"/>
            <a:ext cx="44888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Total Volume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2,661 Images across 3 classes</a:t>
            </a:r>
          </a:p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tats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802 images (skin ink, line work, pigmentation)</a:t>
            </a:r>
            <a:endParaRPr lang="en-US" sz="14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street_art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695 images (murals, spray paint on urban surfaces)</a:t>
            </a:r>
            <a:endParaRPr lang="en-US" sz="14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none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1,164  images (billboards, traffic signs, clear and damaged skin, noise)</a:t>
            </a:r>
          </a:p>
          <a:p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4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Sources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Curated from </a:t>
            </a:r>
            <a:r>
              <a:rPr lang="en-US" sz="14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Roboflow</a:t>
            </a:r>
            <a:r>
              <a:rPr 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Universe and Images taken by Me.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603835-B04A-C8E2-9427-EE37FE8F6CAF}"/>
              </a:ext>
            </a:extLst>
          </p:cNvPr>
          <p:cNvSpPr txBox="1"/>
          <p:nvPr/>
        </p:nvSpPr>
        <p:spPr>
          <a:xfrm>
            <a:off x="7002484" y="3135086"/>
            <a:ext cx="4488874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3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Train Split 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(80%): 2,128 (931 none, 641 tats, 556 street_art)</a:t>
            </a: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3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Validation Split 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(10%): 265 (116 none, 80 tats, 69 street_art)</a:t>
            </a:r>
            <a:endParaRPr lang="en-US" sz="13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3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Test Split 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(10%): 268  (117 none, 81 tats, 70 street_art)</a:t>
            </a: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3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Resolution &amp; Tensors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Resized to 224x224 RGB, ImageNet Normalization</a:t>
            </a:r>
          </a:p>
          <a:p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3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Augmentations:</a:t>
            </a: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Random Horizontal flip, slight rotation, color jitter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407CAE-8D49-A3CA-6538-5E04B663AEAF}"/>
              </a:ext>
            </a:extLst>
          </p:cNvPr>
          <p:cNvSpPr txBox="1"/>
          <p:nvPr/>
        </p:nvSpPr>
        <p:spPr>
          <a:xfrm>
            <a:off x="784265" y="5564834"/>
            <a:ext cx="10790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Data Labeling Challenge &amp; Mitigation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: Fine tattoo linework can visually mimic intricate urban murals on building surfaces (Graffiti). Mitigated by heavily weighting the </a:t>
            </a: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none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class (1,164 images, including bare/damaged skin, street signs, billboards, and blank walls) to force the model to learn localized dermis context rather than just raw edges or pigment.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9656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5A4E-64FD-E5F1-4FFA-B760FB0D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7CD763-38BB-E8B2-F736-D81A6707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41045" y="2296058"/>
            <a:ext cx="2872388" cy="2529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C27806-CD84-BBC8-0D90-2D603504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05" y="2126823"/>
            <a:ext cx="2987842" cy="2862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A84843-A1F4-34C9-32F9-380342CBDA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6200000">
            <a:off x="2219183" y="2689052"/>
            <a:ext cx="2368649" cy="1905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5123F2-B48F-E8CC-A5B1-5D762190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34" y="663117"/>
            <a:ext cx="6932777" cy="396209"/>
          </a:xfrm>
        </p:spPr>
        <p:txBody>
          <a:bodyPr>
            <a:noAutofit/>
          </a:bodyPr>
          <a:lstStyle/>
          <a:p>
            <a:r>
              <a:rPr lang="en-US" sz="2400" dirty="0"/>
              <a:t>Evaluation Criteria &amp; Success Metrics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642A7-45C6-710C-0A09-C215C1FF39F3}"/>
              </a:ext>
            </a:extLst>
          </p:cNvPr>
          <p:cNvSpPr/>
          <p:nvPr/>
        </p:nvSpPr>
        <p:spPr>
          <a:xfrm>
            <a:off x="538834" y="1310214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B547D-B2F7-160D-20B1-EC7989064F7F}"/>
              </a:ext>
            </a:extLst>
          </p:cNvPr>
          <p:cNvSpPr/>
          <p:nvPr/>
        </p:nvSpPr>
        <p:spPr>
          <a:xfrm>
            <a:off x="8611088" y="1310214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6CDA39-B3C6-B698-667D-2ABEE52FFB12}"/>
              </a:ext>
            </a:extLst>
          </p:cNvPr>
          <p:cNvSpPr/>
          <p:nvPr/>
        </p:nvSpPr>
        <p:spPr>
          <a:xfrm>
            <a:off x="4574961" y="1310214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4E7A0E-A656-16AB-EE33-211AE8A61ED9}"/>
              </a:ext>
            </a:extLst>
          </p:cNvPr>
          <p:cNvSpPr/>
          <p:nvPr/>
        </p:nvSpPr>
        <p:spPr>
          <a:xfrm>
            <a:off x="1494766" y="5569724"/>
            <a:ext cx="9202467" cy="11176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107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Model Selection Protocol: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 Checkpoints will be ranked by the lowest Validation Loss rather than accuracy alone. Training terminates early if validation loss does not improve after 5 epochs to prevent memorization of repetitive skin tones or background noise. Final verification occurs solely on the untouched 268-image test set.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DAC02-5FED-9658-D319-5DC5C23FAF4E}"/>
              </a:ext>
            </a:extLst>
          </p:cNvPr>
          <p:cNvSpPr txBox="1"/>
          <p:nvPr/>
        </p:nvSpPr>
        <p:spPr>
          <a:xfrm>
            <a:off x="618311" y="1304745"/>
            <a:ext cx="2381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Primary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93790-834D-5E78-A4A8-ADBAB3387C2B}"/>
              </a:ext>
            </a:extLst>
          </p:cNvPr>
          <p:cNvSpPr txBox="1"/>
          <p:nvPr/>
        </p:nvSpPr>
        <p:spPr>
          <a:xfrm>
            <a:off x="4506985" y="1304745"/>
            <a:ext cx="269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Secondary Evaluation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0F462F-EA21-D42C-6C59-B7F735D807F5}"/>
              </a:ext>
            </a:extLst>
          </p:cNvPr>
          <p:cNvSpPr txBox="1"/>
          <p:nvPr/>
        </p:nvSpPr>
        <p:spPr>
          <a:xfrm>
            <a:off x="8633600" y="1337370"/>
            <a:ext cx="2472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Baseline &amp; Resource Constraints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0AB3C2-EE95-6378-6286-09AE93211FF5}"/>
              </a:ext>
            </a:extLst>
          </p:cNvPr>
          <p:cNvSpPr txBox="1"/>
          <p:nvPr/>
        </p:nvSpPr>
        <p:spPr>
          <a:xfrm>
            <a:off x="593787" y="2296058"/>
            <a:ext cx="25175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Target Metric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80% Overall Multi-Class Top-1 Accuracy</a:t>
            </a:r>
            <a:endParaRPr lang="en-US" sz="1200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Operational Goal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Establish reliable automated routing across body ink, street murals, and negative background clutter.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Optimization Loss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Cross-Entropy Loss with </a:t>
            </a:r>
            <a:r>
              <a:rPr lang="en-US" sz="1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Softmax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activation on final logits.</a:t>
            </a: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Minimum Threshold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Model must sustain &gt; 75% accuracy across all three individual classes to prevent one class from dragging down the aggregate score.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D78267-4C6C-38F7-1D84-63BBDC5FE841}"/>
              </a:ext>
            </a:extLst>
          </p:cNvPr>
          <p:cNvSpPr txBox="1"/>
          <p:nvPr/>
        </p:nvSpPr>
        <p:spPr>
          <a:xfrm>
            <a:off x="4584253" y="2192437"/>
            <a:ext cx="2517569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5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Balance Metric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: Macro F1-Score 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≥ 0.78 to account for class imbalance (1,164 </a:t>
            </a:r>
            <a:r>
              <a:rPr lang="en-US" sz="1250" i="1" dirty="0">
                <a:latin typeface="+mj-lt"/>
                <a:ea typeface="Cambria Math" panose="02040503050406030204" pitchFamily="18" charset="0"/>
              </a:rPr>
              <a:t>none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 vs. 695 </a:t>
            </a:r>
            <a:r>
              <a:rPr lang="en-US" sz="1250" i="1" dirty="0">
                <a:latin typeface="+mj-lt"/>
                <a:ea typeface="Cambria Math" panose="02040503050406030204" pitchFamily="18" charset="0"/>
              </a:rPr>
              <a:t>street_art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).</a:t>
            </a:r>
          </a:p>
          <a:p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- </a:t>
            </a:r>
            <a:r>
              <a:rPr lang="en-US" sz="125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Priority Recall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: Tattoo Recall target ≥ 85%% to ensure actionable identification markers are rarely missed in intake workflows.</a:t>
            </a:r>
          </a:p>
          <a:p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- </a:t>
            </a:r>
            <a:r>
              <a:rPr lang="en-US" sz="125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 Diagnostic Audit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: Per-class Precision/Recall Analysis and a 3x3 Confusion Matrix to pinpoint whether false positives stem from skin textures or wall patterns.</a:t>
            </a:r>
            <a:endParaRPr lang="en-US" sz="1250" dirty="0">
              <a:solidFill>
                <a:schemeClr val="tx2">
                  <a:lumMod val="20000"/>
                  <a:lumOff val="80000"/>
                </a:schemeClr>
              </a:solidFill>
              <a:latin typeface="+mj-lt"/>
            </a:endParaRPr>
          </a:p>
          <a:p>
            <a:endParaRPr lang="en-US" sz="1200" i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60182F-C165-F628-2A2E-51F9A74A848F}"/>
              </a:ext>
            </a:extLst>
          </p:cNvPr>
          <p:cNvSpPr txBox="1"/>
          <p:nvPr/>
        </p:nvSpPr>
        <p:spPr>
          <a:xfrm>
            <a:off x="8658958" y="2126823"/>
            <a:ext cx="24511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8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Chance Baseline: </a:t>
            </a:r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33.3% (random assignment across 3 classes). </a:t>
            </a:r>
          </a:p>
          <a:p>
            <a:pPr lvl="0"/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128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Zero-Rule Majority Baseline</a:t>
            </a:r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43.7% (predicting </a:t>
            </a:r>
            <a:r>
              <a:rPr lang="en-US" sz="1280" i="1" dirty="0"/>
              <a:t>none </a:t>
            </a:r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on all inputs: 1,164/2,661).</a:t>
            </a:r>
            <a:endParaRPr lang="en-US" sz="1280" dirty="0"/>
          </a:p>
          <a:p>
            <a:pPr lvl="0"/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</a:t>
            </a:r>
            <a:r>
              <a:rPr lang="en-US" sz="128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Inference Budget</a:t>
            </a:r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&lt; 200 </a:t>
            </a:r>
            <a:r>
              <a:rPr lang="en-US" sz="128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ms</a:t>
            </a:r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per image on standard CPU instances; &lt; 25ms on CUDA-enabled runtimes.</a:t>
            </a:r>
          </a:p>
          <a:p>
            <a:pPr lvl="0"/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8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Storage Footprint</a:t>
            </a:r>
            <a:r>
              <a:rPr lang="en-US" sz="128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Quantized model weights kept at &lt; 100MB for lightweight containerization.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92799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0998-3EF7-F22E-9EAB-AEC9F281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432" y="619914"/>
            <a:ext cx="6180222" cy="390740"/>
          </a:xfrm>
        </p:spPr>
        <p:txBody>
          <a:bodyPr>
            <a:normAutofit/>
          </a:bodyPr>
          <a:lstStyle/>
          <a:p>
            <a:r>
              <a:rPr lang="en-US" sz="2400" dirty="0"/>
              <a:t>Project Milestone Plan &amp; Timeline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891A89-20F1-ED9F-CF6D-DCC4E9D2E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65167"/>
              </p:ext>
            </p:extLst>
          </p:nvPr>
        </p:nvGraphicFramePr>
        <p:xfrm>
          <a:off x="1361572" y="1238050"/>
          <a:ext cx="9468856" cy="4149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7214">
                  <a:extLst>
                    <a:ext uri="{9D8B030D-6E8A-4147-A177-3AD203B41FA5}">
                      <a16:colId xmlns:a16="http://schemas.microsoft.com/office/drawing/2014/main" val="3352694574"/>
                    </a:ext>
                  </a:extLst>
                </a:gridCol>
                <a:gridCol w="2367214">
                  <a:extLst>
                    <a:ext uri="{9D8B030D-6E8A-4147-A177-3AD203B41FA5}">
                      <a16:colId xmlns:a16="http://schemas.microsoft.com/office/drawing/2014/main" val="3704486184"/>
                    </a:ext>
                  </a:extLst>
                </a:gridCol>
                <a:gridCol w="2367214">
                  <a:extLst>
                    <a:ext uri="{9D8B030D-6E8A-4147-A177-3AD203B41FA5}">
                      <a16:colId xmlns:a16="http://schemas.microsoft.com/office/drawing/2014/main" val="2590482504"/>
                    </a:ext>
                  </a:extLst>
                </a:gridCol>
                <a:gridCol w="2367214">
                  <a:extLst>
                    <a:ext uri="{9D8B030D-6E8A-4147-A177-3AD203B41FA5}">
                      <a16:colId xmlns:a16="http://schemas.microsoft.com/office/drawing/2014/main" val="2857823269"/>
                    </a:ext>
                  </a:extLst>
                </a:gridCol>
              </a:tblGrid>
              <a:tr h="611782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Project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 Week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85525"/>
                  </a:ext>
                </a:extLst>
              </a:tr>
              <a:tr h="611782">
                <a:tc>
                  <a:txBody>
                    <a:bodyPr/>
                    <a:lstStyle/>
                    <a:p>
                      <a:r>
                        <a:rPr lang="en-US" dirty="0"/>
                        <a:t>🧭 Blueprint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Project Proposal &amp; architecture plan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Midterm Pitch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860456"/>
                  </a:ext>
                </a:extLst>
              </a:tr>
              <a:tr h="717094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🥊 First Working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Pretrained ResNet50 pipeline runs end-to-end on sample batches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Pipeline verifies inference end-to-end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71600"/>
                  </a:ext>
                </a:extLst>
              </a:tr>
              <a:tr h="717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🛠️ </a:t>
                      </a:r>
                      <a:r>
                        <a:rPr lang="en-US" dirty="0"/>
                        <a:t>Make it Yours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Ingest the full 2,661 dataset; fine-tune the head on </a:t>
                      </a:r>
                      <a:r>
                        <a:rPr lang="en-US" sz="1400" i="1" dirty="0">
                          <a:solidFill>
                            <a:srgbClr val="A94DA9"/>
                          </a:solidFill>
                        </a:rPr>
                        <a:t>tats</a:t>
                      </a: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400" i="1" dirty="0">
                          <a:solidFill>
                            <a:srgbClr val="A94DA9"/>
                          </a:solidFill>
                        </a:rPr>
                        <a:t> street_art</a:t>
                      </a: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400" i="0" dirty="0">
                          <a:solidFill>
                            <a:srgbClr val="A94DA9"/>
                          </a:solidFill>
                        </a:rPr>
                        <a:t> </a:t>
                      </a:r>
                      <a:r>
                        <a:rPr lang="en-US" sz="1400" i="1" dirty="0">
                          <a:solidFill>
                            <a:srgbClr val="A94DA9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Model actively trains on custom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Weeks 12-13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217385"/>
                  </a:ext>
                </a:extLst>
              </a:tr>
              <a:tr h="717094">
                <a:tc>
                  <a:txBody>
                    <a:bodyPr/>
                    <a:lstStyle/>
                    <a:p>
                      <a:r>
                        <a:rPr lang="en-US" dirty="0"/>
                        <a:t>📈 Improve &amp;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Measure against targets (</a:t>
                      </a:r>
                      <a:r>
                        <a:rPr lang="en-US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≥ 80% Acc, ≥ 0.78 F1</a:t>
                      </a:r>
                      <a:r>
                        <a:rPr lang="en-US" sz="1400" dirty="0"/>
                        <a:t>); tune augmentations.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metrics &amp; confusion matrix logged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431591"/>
                  </a:ext>
                </a:extLst>
              </a:tr>
              <a:tr h="717094">
                <a:tc>
                  <a:txBody>
                    <a:bodyPr/>
                    <a:lstStyle/>
                    <a:p>
                      <a:r>
                        <a:rPr lang="en-US" dirty="0"/>
                        <a:t>📦 Package &amp; Present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Finalize </a:t>
                      </a:r>
                      <a:r>
                        <a:rPr lang="en-US" sz="1400" dirty="0" err="1"/>
                        <a:t>PyTorch</a:t>
                      </a:r>
                      <a:r>
                        <a:rPr lang="en-US" sz="1400" dirty="0"/>
                        <a:t> weights (100MB), README, demo video &amp; 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 deliverables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35615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CD50AA-D48B-BDBB-D730-EB77C51C1D3D}"/>
              </a:ext>
            </a:extLst>
          </p:cNvPr>
          <p:cNvSpPr/>
          <p:nvPr/>
        </p:nvSpPr>
        <p:spPr>
          <a:xfrm>
            <a:off x="1494766" y="5569724"/>
            <a:ext cx="9202467" cy="11176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107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Why Does the Demo Precede Full Data Work?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In industry workflows, proving the ResNet50 inference pipeline runs end-to-end on a small sample de-risks deployment early. This confirms code and GPU environments work before investing compute time in training across all 2,661 images.</a:t>
            </a:r>
          </a:p>
        </p:txBody>
      </p:sp>
    </p:spTree>
    <p:extLst>
      <p:ext uri="{BB962C8B-B14F-4D97-AF65-F5344CB8AC3E}">
        <p14:creationId xmlns:p14="http://schemas.microsoft.com/office/powerpoint/2010/main" val="255500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ECEC-0436-9644-1E7B-9E0483D01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FFD04-64A5-1906-724E-0D5DA652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34" y="677625"/>
            <a:ext cx="6812461" cy="396209"/>
          </a:xfrm>
        </p:spPr>
        <p:txBody>
          <a:bodyPr>
            <a:normAutofit/>
          </a:bodyPr>
          <a:lstStyle/>
          <a:p>
            <a:r>
              <a:rPr lang="en-US" sz="2400" dirty="0"/>
              <a:t>Risks &amp; Computational Resources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3DFAE-58B0-6B0D-29F0-611295FE9A7E}"/>
              </a:ext>
            </a:extLst>
          </p:cNvPr>
          <p:cNvSpPr/>
          <p:nvPr/>
        </p:nvSpPr>
        <p:spPr>
          <a:xfrm>
            <a:off x="538834" y="1310214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EAB7C-977E-896B-2DA9-905A77E50C1B}"/>
              </a:ext>
            </a:extLst>
          </p:cNvPr>
          <p:cNvSpPr/>
          <p:nvPr/>
        </p:nvSpPr>
        <p:spPr>
          <a:xfrm>
            <a:off x="8611088" y="1310214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06B93E-A891-4FA5-62FE-BD1087E182B3}"/>
              </a:ext>
            </a:extLst>
          </p:cNvPr>
          <p:cNvSpPr/>
          <p:nvPr/>
        </p:nvSpPr>
        <p:spPr>
          <a:xfrm>
            <a:off x="4574961" y="1310214"/>
            <a:ext cx="2517569" cy="38476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9240CF-015B-1413-9481-66E457C583CB}"/>
              </a:ext>
            </a:extLst>
          </p:cNvPr>
          <p:cNvSpPr/>
          <p:nvPr/>
        </p:nvSpPr>
        <p:spPr>
          <a:xfrm>
            <a:off x="1494766" y="5569724"/>
            <a:ext cx="9202467" cy="11176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107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Risk Protocol: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Model checkpoints are monitored against per-class F1-scores during training. If any single class drops below 70% recall, Plan B interventions (class weighting and deep layer unfreezing) are triggered before the final test evaluation.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39BD4E-DEC6-4A8C-5EBB-F9D94804406D}"/>
              </a:ext>
            </a:extLst>
          </p:cNvPr>
          <p:cNvSpPr txBox="1"/>
          <p:nvPr/>
        </p:nvSpPr>
        <p:spPr>
          <a:xfrm>
            <a:off x="618311" y="1304745"/>
            <a:ext cx="2381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Domain Overfitting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A5329-0BD9-7FC3-E795-0A7D620EF669}"/>
              </a:ext>
            </a:extLst>
          </p:cNvPr>
          <p:cNvSpPr txBox="1"/>
          <p:nvPr/>
        </p:nvSpPr>
        <p:spPr>
          <a:xfrm>
            <a:off x="4506985" y="1304745"/>
            <a:ext cx="269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Class Imbalance Risk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3C929-380B-AB78-5E26-6AA50FC92615}"/>
              </a:ext>
            </a:extLst>
          </p:cNvPr>
          <p:cNvSpPr txBox="1"/>
          <p:nvPr/>
        </p:nvSpPr>
        <p:spPr>
          <a:xfrm>
            <a:off x="8633600" y="1286016"/>
            <a:ext cx="2472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Compute &amp; Estimated Cost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0B1E5F-6E29-5A52-5419-7D3927E33715}"/>
              </a:ext>
            </a:extLst>
          </p:cNvPr>
          <p:cNvSpPr txBox="1"/>
          <p:nvPr/>
        </p:nvSpPr>
        <p:spPr>
          <a:xfrm>
            <a:off x="591747" y="2849496"/>
            <a:ext cx="25175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- Risk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: High visual similarity between intricate tattoo linework and fine mural line art leads to misclassifications.</a:t>
            </a:r>
            <a:endParaRPr lang="en-US" sz="1200" b="1" dirty="0">
              <a:solidFill>
                <a:schemeClr val="tx2">
                  <a:lumMod val="20000"/>
                  <a:lumOff val="80000"/>
                </a:schemeClr>
              </a:solidFill>
              <a:latin typeface="+mj-lt"/>
            </a:endParaRP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-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 Impact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: False positives where human skin with tattoos is flagged as street graffiti or vice versa.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 </a:t>
            </a: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Plan B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: Unfreeze </a:t>
            </a:r>
            <a:r>
              <a:rPr lang="en-US" sz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deeper ResNet50 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residual layers to learn fine-grained substrate textures and apply heavy color jitter + affine augmentation.</a:t>
            </a:r>
            <a:endParaRPr lang="en-US" sz="1200" dirty="0">
              <a:solidFill>
                <a:schemeClr val="accent1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26E7DD-2082-4F0B-F87A-E683AB3235C8}"/>
              </a:ext>
            </a:extLst>
          </p:cNvPr>
          <p:cNvSpPr txBox="1"/>
          <p:nvPr/>
        </p:nvSpPr>
        <p:spPr>
          <a:xfrm>
            <a:off x="4593885" y="2849496"/>
            <a:ext cx="25175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-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 Risk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rPr>
              <a:t>: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 Skewed training set (1,164 </a:t>
            </a:r>
            <a:r>
              <a:rPr lang="en-US" sz="1200" i="1" dirty="0">
                <a:latin typeface="+mj-lt"/>
                <a:ea typeface="Cambria Math" panose="02040503050406030204" pitchFamily="18" charset="0"/>
              </a:rPr>
              <a:t>none</a:t>
            </a:r>
            <a:r>
              <a:rPr lang="en-US" sz="12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 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vs. 695</a:t>
            </a:r>
            <a:r>
              <a:rPr lang="en-US" sz="12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 </a:t>
            </a:r>
            <a:r>
              <a:rPr lang="en-US" sz="1200" i="1" dirty="0">
                <a:latin typeface="+mj-lt"/>
                <a:ea typeface="Cambria Math" panose="02040503050406030204" pitchFamily="18" charset="0"/>
              </a:rPr>
              <a:t>street_art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) can cause the model to default toward predicting the majority class.</a:t>
            </a:r>
          </a:p>
          <a:p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Impact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: High overall accuracy but poor recall on street murals and tattoos.</a:t>
            </a:r>
          </a:p>
          <a:p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 Plan B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: Implement class-weighted cross-entropy loss to penalize minority-class errors, or apply oversampling via augmentations on </a:t>
            </a:r>
            <a:r>
              <a:rPr lang="en-US" sz="1200" i="1" dirty="0">
                <a:latin typeface="+mj-lt"/>
                <a:ea typeface="Cambria Math" panose="02040503050406030204" pitchFamily="18" charset="0"/>
              </a:rPr>
              <a:t>street_art</a:t>
            </a:r>
            <a:r>
              <a:rPr lang="en-US" sz="12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Cambria Math" panose="02040503050406030204" pitchFamily="18" charset="0"/>
              </a:rPr>
              <a:t>.</a:t>
            </a:r>
            <a:endParaRPr lang="en-US" sz="1200" i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E0E288-4075-1BBB-4739-8FFC55BA4195}"/>
              </a:ext>
            </a:extLst>
          </p:cNvPr>
          <p:cNvSpPr txBox="1"/>
          <p:nvPr/>
        </p:nvSpPr>
        <p:spPr>
          <a:xfrm>
            <a:off x="8677543" y="2849496"/>
            <a:ext cx="24511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Primary Platform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Google </a:t>
            </a:r>
            <a:r>
              <a:rPr lang="en-US" sz="1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Colab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with free-tier NVIDIA T4 GPU (16GB VRAM).</a:t>
            </a: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Backup Compute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Kaggle Notebooks (free P100/T4 GPUs, 30hrs/week).</a:t>
            </a: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Local Fallback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CPU workstation for evaluation and batch testing</a:t>
            </a:r>
          </a:p>
          <a:p>
            <a:pPr lvl="0"/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- </a:t>
            </a: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Estimated Cost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: $0.00 (fully leveraging accessible, free-tier cloud GPU resources).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911BC-0FD0-E1CD-22D1-D97906CE81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55508" y="1646832"/>
            <a:ext cx="1194321" cy="1223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DD9C8B-D234-CE55-E7A1-672C198B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10417" y="1911879"/>
            <a:ext cx="918907" cy="9580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C82BC6-E2B2-6F3D-F638-A51A3BD1CA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9590" y="1605380"/>
            <a:ext cx="1924471" cy="124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18480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1F00773615184EB71781CEC77519FD" ma:contentTypeVersion="5" ma:contentTypeDescription="Create a new document." ma:contentTypeScope="" ma:versionID="3bfb559063aa8b3ae467accfb0f3d353">
  <xsd:schema xmlns:xsd="http://www.w3.org/2001/XMLSchema" xmlns:xs="http://www.w3.org/2001/XMLSchema" xmlns:p="http://schemas.microsoft.com/office/2006/metadata/properties" xmlns:ns3="73f969d0-7485-45ff-ae3d-88d0ed0a2ed8" targetNamespace="http://schemas.microsoft.com/office/2006/metadata/properties" ma:root="true" ma:fieldsID="9771fd7b37726892d82125f2bfce3dd3" ns3:_="">
    <xsd:import namespace="73f969d0-7485-45ff-ae3d-88d0ed0a2ed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969d0-7485-45ff-ae3d-88d0ed0a2ed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f969d0-7485-45ff-ae3d-88d0ed0a2ed8" xsi:nil="true"/>
  </documentManagement>
</p:properties>
</file>

<file path=customXml/itemProps1.xml><?xml version="1.0" encoding="utf-8"?>
<ds:datastoreItem xmlns:ds="http://schemas.openxmlformats.org/officeDocument/2006/customXml" ds:itemID="{CFA784BC-4CA6-4417-9268-B733921B05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f969d0-7485-45ff-ae3d-88d0ed0a2e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7755DE-1E14-4943-8DBE-93DA567388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EAC579-1551-427C-8B61-09E98AB409D8}">
  <ds:schemaRefs>
    <ds:schemaRef ds:uri="http://purl.org/dc/terms/"/>
    <ds:schemaRef ds:uri="http://schemas.microsoft.com/office/infopath/2007/PartnerControls"/>
    <ds:schemaRef ds:uri="http://purl.org/dc/elements/1.1/"/>
    <ds:schemaRef ds:uri="73f969d0-7485-45ff-ae3d-88d0ed0a2ed8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</TotalTime>
  <Words>1397</Words>
  <Application>Microsoft Office PowerPoint</Application>
  <PresentationFormat>Widescreen</PresentationFormat>
  <Paragraphs>150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Nova Light</vt:lpstr>
      <vt:lpstr>Arial Rounded MT Bold</vt:lpstr>
      <vt:lpstr>Cambria Math</vt:lpstr>
      <vt:lpstr>Modulo</vt:lpstr>
      <vt:lpstr>ITAI 1378 Midterm Blueprint Proposal</vt:lpstr>
      <vt:lpstr>The Problem: Identifying Distinguishing Physical Markers</vt:lpstr>
      <vt:lpstr>The Solution: 3-stage triage pipeline</vt:lpstr>
      <vt:lpstr>Technical Approach &amp; Justification</vt:lpstr>
      <vt:lpstr>Data Plan &amp; Architecture </vt:lpstr>
      <vt:lpstr>Evaluation Criteria &amp; Success Metrics</vt:lpstr>
      <vt:lpstr>Project Milestone Plan &amp; Timeline</vt:lpstr>
      <vt:lpstr>Risks &amp; Computational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jonathan.aldana2-W218165854</dc:creator>
  <cp:lastModifiedBy>jonathan.aldana2-W218165854</cp:lastModifiedBy>
  <cp:revision>3</cp:revision>
  <cp:lastPrinted>2026-10-01T02:51:53Z</cp:lastPrinted>
  <dcterms:created xsi:type="dcterms:W3CDTF">2026-09-30T03:27:58Z</dcterms:created>
  <dcterms:modified xsi:type="dcterms:W3CDTF">2026-10-01T04:26:36Z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0x010100511F00773615184EB71781CEC77519FD</vt:lpwstr>
  </property>
</Properties>
</file>